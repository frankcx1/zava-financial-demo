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Buchholz" userId="3043e6a0-eaf7-402e-b74d-9488ded3ad0e" providerId="ADAL" clId="{B96291F9-5BC2-4FAB-AC29-B9AB4B6D2A47}"/>
    <pc:docChg chg="modSld">
      <pc:chgData name="Frank Buchholz" userId="3043e6a0-eaf7-402e-b74d-9488ded3ad0e" providerId="ADAL" clId="{B96291F9-5BC2-4FAB-AC29-B9AB4B6D2A47}" dt="2026-02-06T16:25:06.340" v="0"/>
      <pc:docMkLst>
        <pc:docMk/>
      </pc:docMkLst>
      <pc:sldChg chg="modSp mod">
        <pc:chgData name="Frank Buchholz" userId="3043e6a0-eaf7-402e-b74d-9488ded3ad0e" providerId="ADAL" clId="{B96291F9-5BC2-4FAB-AC29-B9AB4B6D2A47}" dt="2026-02-06T16:25:06.340" v="0"/>
        <pc:sldMkLst>
          <pc:docMk/>
          <pc:sldMk cId="0" sldId="256"/>
        </pc:sldMkLst>
        <pc:spChg chg="mod">
          <ac:chgData name="Frank Buchholz" userId="3043e6a0-eaf7-402e-b74d-9488ded3ad0e" providerId="ADAL" clId="{B96291F9-5BC2-4FAB-AC29-B9AB4B6D2A47}" dt="2026-02-06T16:25:06.340" v="0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Stop Waiting. Start Building.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94A3B8"/>
                </a:solidFill>
              </a:defRPr>
            </a:pPr>
            <a:r>
              <a:t>The NPU Opportunity Is Now — And It's Yours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THE VIBE CODING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0292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rPr dirty="0"/>
              <a:t>• Claude Code + GitHub Copilot CLI = anyone can build production demos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rPr dirty="0"/>
              <a:t>• No SDK expertise required — describe what you want, iterate in real-time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rPr dirty="0"/>
              <a:t>• </a:t>
            </a:r>
            <a:r>
              <a:rPr lang="en-US" dirty="0"/>
              <a:t>The people closest to the customer problem can now build the solution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02920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THE 80/20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80% Local</a:t>
            </a:r>
            <a:r>
              <a:rPr sz="1400">
                <a:solidFill>
                  <a:srgbClr val="CBD5E1"/>
                </a:solidFill>
              </a:rPr>
              <a:t> — routine tasks, sensitive data, always-on automation </a:t>
            </a:r>
            <a:r>
              <a:rPr sz="1400">
                <a:solidFill>
                  <a:srgbClr val="22C55E"/>
                </a:solidFill>
              </a:rPr>
              <a:t>(free)</a:t>
            </a:r>
          </a:p>
          <a:p>
            <a:pPr>
              <a:spcBef>
                <a:spcPts val="800"/>
              </a:spcBef>
              <a:defRPr sz="1400" b="1">
                <a:solidFill>
                  <a:srgbClr val="3B82F6"/>
                </a:solidFill>
              </a:defRPr>
            </a:pPr>
            <a:r>
              <a:t>20% Frontier</a:t>
            </a:r>
            <a:r>
              <a:rPr sz="1400">
                <a:solidFill>
                  <a:srgbClr val="CBD5E1"/>
                </a:solidFill>
              </a:rPr>
              <a:t> — complex reasoning, novel problems, maximum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459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THE TWO-BRAIN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0574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0574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Cloud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Local AI (NPU)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048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4048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Expert Consultant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048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6EFAC"/>
                </a:solidFill>
              </a:defRPr>
            </a:pPr>
            <a:r>
              <a:t>Chief of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5234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523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Big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5234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6EFAC"/>
                </a:solidFill>
              </a:defRPr>
            </a:pPr>
            <a:r>
              <a:t>Always at your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0998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Strength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998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Brilliant problem-solver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09981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6EFAC"/>
                </a:solidFill>
              </a:defRPr>
            </a:pPr>
            <a:r>
              <a:t>Knows your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44728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472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3C5FD"/>
                </a:solidFill>
              </a:defRPr>
            </a:pPr>
            <a:r>
              <a:t>Leaves the building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4472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86EFAC"/>
                </a:solidFill>
              </a:defRPr>
            </a:pPr>
            <a:r>
              <a:t>Never leaves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886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BD5E1"/>
                </a:solidFill>
              </a:defRPr>
            </a:pPr>
            <a:r>
              <a:t>"Biggest brain for development.</a:t>
            </a:r>
            <a:br/>
            <a:r>
              <a:t>Most private brain for production."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645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B5CF6"/>
                </a:solidFill>
              </a:defRPr>
            </a:pPr>
            <a:r>
              <a:t>TOKENOMICS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574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B5FD"/>
                </a:solidFill>
              </a:defRPr>
            </a:pPr>
            <a:r>
              <a:t>Subscription AI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Fixed cost, human-speed</a:t>
            </a:r>
          </a:p>
          <a:p>
            <a:pPr>
              <a:defRPr sz="1300" b="1">
                <a:solidFill>
                  <a:srgbClr val="C4B5FD"/>
                </a:solidFill>
              </a:defRPr>
            </a:pPr>
            <a:r>
              <a:t>Token-based AI (API)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Computer-to-computer burns tokens fast:</a:t>
            </a:r>
          </a:p>
          <a:p>
            <a:pPr>
              <a:spcAft>
                <a:spcPts val="300"/>
              </a:spcAft>
              <a:defRPr sz="1100">
                <a:solidFill>
                  <a:srgbClr val="CBD5E1"/>
                </a:solidFill>
              </a:defRPr>
            </a:pPr>
            <a:r>
              <a:t>• 100s of agent calls/day</a:t>
            </a:r>
          </a:p>
          <a:p>
            <a:pPr>
              <a:spcAft>
                <a:spcPts val="300"/>
              </a:spcAft>
              <a:defRPr sz="1100">
                <a:solidFill>
                  <a:srgbClr val="CBD5E1"/>
                </a:solidFill>
              </a:defRPr>
            </a:pPr>
            <a:r>
              <a:t>• 24/7 automation</a:t>
            </a:r>
          </a:p>
          <a:p>
            <a:pPr>
              <a:spcAft>
                <a:spcPts val="300"/>
              </a:spcAft>
              <a:defRPr sz="1100">
                <a:solidFill>
                  <a:srgbClr val="CBD5E1"/>
                </a:solidFill>
              </a:defRPr>
            </a:pPr>
            <a:r>
              <a:t>• Costs compound quietly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1143000"/>
          </a:xfrm>
          <a:prstGeom prst="roundRect">
            <a:avLst/>
          </a:prstGeom>
          <a:solidFill>
            <a:srgbClr val="142D23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CALL TO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BF7D0"/>
                </a:solidFill>
              </a:defRPr>
            </a:pPr>
            <a:r>
              <a:t>NPU is in every new Surface and across Windows — Copilot+ PCs are the new baseline.  </a:t>
            </a:r>
            <a:r>
              <a:rPr sz="1400">
                <a:solidFill>
                  <a:srgbClr val="BBF7D0"/>
                </a:solidFill>
              </a:rPr>
              <a:t>The use cases won't discover themselves.  </a:t>
            </a:r>
            <a:r>
              <a:rPr sz="1400" b="1">
                <a:solidFill>
                  <a:srgbClr val="FFFFFF"/>
                </a:solidFill>
              </a:rPr>
              <a:t>Build the demo. Show the value. Lead the conversation.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37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Microsoft Surface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214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Buchholz</cp:lastModifiedBy>
  <cp:revision>1</cp:revision>
  <dcterms:created xsi:type="dcterms:W3CDTF">2013-01-27T09:14:16Z</dcterms:created>
  <dcterms:modified xsi:type="dcterms:W3CDTF">2026-02-06T16:28:54Z</dcterms:modified>
  <cp:category/>
</cp:coreProperties>
</file>